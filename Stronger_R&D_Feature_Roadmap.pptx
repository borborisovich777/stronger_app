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056a8f35994518" /><Relationship Type="http://schemas.openxmlformats.org/officeDocument/2006/relationships/extended-properties" Target="/docProps/app.xml" Id="Re18499602a44475e" /><Relationship Type="http://schemas.openxmlformats.org/officeDocument/2006/relationships/officeDocument" Target="/ppt/presentation.xml" Id="R51b33ce4773742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91e049c8ca4f83"/>
  </p:sldMasterIdLst>
  <p:notesMasterIdLst>
    <p:notesMasterId xmlns:r="http://schemas.openxmlformats.org/officeDocument/2006/relationships" r:id="Rb234802878c74849"/>
  </p:notesMasterIdLst>
  <p:sldIdLst>
    <p:sldId xmlns:r="http://schemas.openxmlformats.org/officeDocument/2006/relationships" id="256" r:id="Re6e0a5ca53334893"/>
    <p:sldId xmlns:r="http://schemas.openxmlformats.org/officeDocument/2006/relationships" id="257" r:id="R7ee4d859747b4d26"/>
    <p:sldId xmlns:r="http://schemas.openxmlformats.org/officeDocument/2006/relationships" id="258" r:id="R6f44af9ccba849dc"/>
    <p:sldId xmlns:r="http://schemas.openxmlformats.org/officeDocument/2006/relationships" id="259" r:id="Ra7c58b3052384347"/>
    <p:sldId xmlns:r="http://schemas.openxmlformats.org/officeDocument/2006/relationships" id="260" r:id="Rbbb6633d9f804513"/>
    <p:sldId xmlns:r="http://schemas.openxmlformats.org/officeDocument/2006/relationships" id="261" r:id="R3720f3636d5f49cf"/>
    <p:sldId xmlns:r="http://schemas.openxmlformats.org/officeDocument/2006/relationships" id="262" r:id="Rcb806cffbabd4963"/>
    <p:sldId xmlns:r="http://schemas.openxmlformats.org/officeDocument/2006/relationships" id="263" r:id="R314b0c66fa4a401a"/>
    <p:sldId xmlns:r="http://schemas.openxmlformats.org/officeDocument/2006/relationships" id="264" r:id="R1567962aac034c11"/>
    <p:sldId xmlns:r="http://schemas.openxmlformats.org/officeDocument/2006/relationships" id="265" r:id="R496039082a8946d1"/>
    <p:sldId xmlns:r="http://schemas.openxmlformats.org/officeDocument/2006/relationships" id="266" r:id="R6d96b8b0a4ad416e"/>
    <p:sldId xmlns:r="http://schemas.openxmlformats.org/officeDocument/2006/relationships" id="267" r:id="R779b5acd14af4b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89fb8194074306" /><Relationship Type="http://schemas.openxmlformats.org/officeDocument/2006/relationships/slideMaster" Target="/ppt/slideMasters/slideMaster1.xml" Id="R3591e049c8ca4f83" /><Relationship Type="http://schemas.openxmlformats.org/officeDocument/2006/relationships/notesMaster" Target="/ppt/notesMasters/notesMaster1.xml" Id="Rb234802878c74849" /><Relationship Type="http://schemas.openxmlformats.org/officeDocument/2006/relationships/presProps" Target="/ppt/presProps.xml" Id="Rf4d65587ab8d4d47" /><Relationship Type="http://schemas.openxmlformats.org/officeDocument/2006/relationships/tableStyles" Target="/ppt/tableStyles.xml" Id="R50320a6a25554daa" /><Relationship Type="http://schemas.openxmlformats.org/officeDocument/2006/relationships/slide" Target="/ppt/slides/slide1.xml" Id="Re6e0a5ca53334893" /><Relationship Type="http://schemas.openxmlformats.org/officeDocument/2006/relationships/slide" Target="/ppt/slides/slide2.xml" Id="R7ee4d859747b4d26" /><Relationship Type="http://schemas.openxmlformats.org/officeDocument/2006/relationships/slide" Target="/ppt/slides/slide3.xml" Id="R6f44af9ccba849dc" /><Relationship Type="http://schemas.openxmlformats.org/officeDocument/2006/relationships/slide" Target="/ppt/slides/slide4.xml" Id="Ra7c58b3052384347" /><Relationship Type="http://schemas.openxmlformats.org/officeDocument/2006/relationships/slide" Target="/ppt/slides/slide5.xml" Id="Rbbb6633d9f804513" /><Relationship Type="http://schemas.openxmlformats.org/officeDocument/2006/relationships/slide" Target="/ppt/slides/slide6.xml" Id="R3720f3636d5f49cf" /><Relationship Type="http://schemas.openxmlformats.org/officeDocument/2006/relationships/slide" Target="/ppt/slides/slide7.xml" Id="Rcb806cffbabd4963" /><Relationship Type="http://schemas.openxmlformats.org/officeDocument/2006/relationships/slide" Target="/ppt/slides/slide8.xml" Id="R314b0c66fa4a401a" /><Relationship Type="http://schemas.openxmlformats.org/officeDocument/2006/relationships/slide" Target="/ppt/slides/slide9.xml" Id="R1567962aac034c11" /><Relationship Type="http://schemas.openxmlformats.org/officeDocument/2006/relationships/slide" Target="/ppt/slides/slide10.xml" Id="R496039082a8946d1" /><Relationship Type="http://schemas.openxmlformats.org/officeDocument/2006/relationships/slide" Target="/ppt/slides/slide11.xml" Id="R6d96b8b0a4ad416e" /><Relationship Type="http://schemas.openxmlformats.org/officeDocument/2006/relationships/slide" Target="/ppt/slides/slide12.xml" Id="R779b5acd14af4b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0959dc450747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38ca0d63aa4170" /><Relationship Type="http://schemas.openxmlformats.org/officeDocument/2006/relationships/notesMaster" Target="/ppt/notesMasters/notesMaster1.xml" Id="R75e2a027f8ee49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8b0c125a4348bb" /><Relationship Type="http://schemas.openxmlformats.org/officeDocument/2006/relationships/notesMaster" Target="/ppt/notesMasters/notesMaster1.xml" Id="R7823f2d1846041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caed6fe86f40cb" /><Relationship Type="http://schemas.openxmlformats.org/officeDocument/2006/relationships/notesMaster" Target="/ppt/notesMasters/notesMaster1.xml" Id="R18c1558ee98c4c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bde49199f7486e" /><Relationship Type="http://schemas.openxmlformats.org/officeDocument/2006/relationships/notesMaster" Target="/ppt/notesMasters/notesMaster1.xml" Id="R4524bdcef5e448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a71647fb834a33" /><Relationship Type="http://schemas.openxmlformats.org/officeDocument/2006/relationships/notesMaster" Target="/ppt/notesMasters/notesMaster1.xml" Id="R4392330bb80f4e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d534c7cdca4555" /><Relationship Type="http://schemas.openxmlformats.org/officeDocument/2006/relationships/notesMaster" Target="/ppt/notesMasters/notesMaster1.xml" Id="Rda0b5987e21e4f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f0962de9bc40c9" /><Relationship Type="http://schemas.openxmlformats.org/officeDocument/2006/relationships/notesMaster" Target="/ppt/notesMasters/notesMaster1.xml" Id="R049890e5aca045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c92809c04d42d4" /><Relationship Type="http://schemas.openxmlformats.org/officeDocument/2006/relationships/notesMaster" Target="/ppt/notesMasters/notesMaster1.xml" Id="R88c4051806674c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11199eb8de476c" /><Relationship Type="http://schemas.openxmlformats.org/officeDocument/2006/relationships/notesMaster" Target="/ppt/notesMasters/notesMaster1.xml" Id="Rc0dfd4c7592341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50cffe61a64a46" /><Relationship Type="http://schemas.openxmlformats.org/officeDocument/2006/relationships/notesMaster" Target="/ppt/notesMasters/notesMaster1.xml" Id="R664c68bb649e45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7fda4184074a8c" /><Relationship Type="http://schemas.openxmlformats.org/officeDocument/2006/relationships/notesMaster" Target="/ppt/notesMasters/notesMaster1.xml" Id="R7a13c03d5f0f4b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a1c00456e64422" /><Relationship Type="http://schemas.openxmlformats.org/officeDocument/2006/relationships/notesMaster" Target="/ppt/notesMasters/notesMaster1.xml" Id="R4459e1643d6f4c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decision: preserve the fast local logger and add only a small decision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product screenshot: research/stronger-rd/audit/01-active-workout.png</a:t>
            </a:r>
          </a:p>
          <a:p xmlns:a="http://schemas.openxmlformats.org/drawingml/2006/main">
            <a:r>
              <a:t>- Local product description: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establishes the non-negotiable product qualities that every proposal must preserve.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README.md</a:t>
            </a:r>
          </a:p>
          <a:p xmlns:a="http://schemas.openxmlformats.org/drawingml/2006/main">
            <a:r>
              <a:t>- Local: app/StrongerApp.tsx</a:t>
            </a:r>
          </a:p>
          <a:p xmlns:a="http://schemas.openxmlformats.org/drawingml/2006/main">
            <a:r>
              <a:t>- Local: app/storage.ts</a:t>
            </a:r>
          </a:p>
          <a:p xmlns:a="http://schemas.openxmlformats.org/drawingml/2006/main">
            <a:r>
              <a:t>- Local: app/globals.css</a:t>
            </a:r>
          </a:p>
          <a:p xmlns:a="http://schemas.openxmlformats.org/drawingml/2006/main">
            <a:r>
              <a:t>- Local: public/sw.js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screenshots are current-run evidence. Frame the timer as a recovery UX gap, not necessarily a data-loss bug.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screenshot: research/stronger-rd/audit/01-active-workout.png</a:t>
            </a:r>
          </a:p>
          <a:p xmlns:a="http://schemas.openxmlformats.org/drawingml/2006/main">
            <a:r>
              <a:t>- Local screenshot: research/stronger-rd/audit/03-progress-empty.png</a:t>
            </a:r>
          </a:p>
          <a:p xmlns:a="http://schemas.openxmlformats.org/drawingml/2006/main">
            <a:r>
              <a:t>- Local: app/StrongerApp.tsx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competitive comparison qualitative. These are official product claims, not comparative performance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https://help.strongapp.io/article/228-what-is-strong</a:t>
            </a:r>
          </a:p>
          <a:p xmlns:a="http://schemas.openxmlformats.org/drawingml/2006/main">
            <a:r>
              <a:t>- https://www.hevyapp.com/features/</a:t>
            </a:r>
          </a:p>
          <a:p xmlns:a="http://schemas.openxmlformats.org/drawingml/2006/main">
            <a:r>
              <a:t>- https://help.fitbod.me/hc/en-us/sections/360001078993-How-Fitbod-Works</a:t>
            </a:r>
          </a:p>
          <a:p xmlns:a="http://schemas.openxmlformats.org/drawingml/2006/main">
            <a:r>
              <a:t>- https://www.boostcamp.app/features</a:t>
            </a:r>
          </a:p>
          <a:p xmlns:a="http://schemas.openxmlformats.org/drawingml/2006/main">
            <a:r>
              <a:t>- https://alphaprogression.com/en/subscribe</a:t>
            </a:r>
          </a:p>
          <a:p xmlns:a="http://schemas.openxmlformats.org/drawingml/2006/main">
            <a:r>
              <a:t>- https://www.jefit.com/use-case/workout-planner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count is directional. The decision is to compete on transparency and control, not on claiming a novel algorithm.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https://www.hevyapp.com/features/workout-plan-generator/</a:t>
            </a:r>
          </a:p>
          <a:p xmlns:a="http://schemas.openxmlformats.org/drawingml/2006/main">
            <a:r>
              <a:t>- https://help.fitbod.me/hc/en-us/sections/360001078993-How-Fitbod-Works</a:t>
            </a:r>
          </a:p>
          <a:p xmlns:a="http://schemas.openxmlformats.org/drawingml/2006/main">
            <a:r>
              <a:t>- https://www.boostcamp.app/features</a:t>
            </a:r>
          </a:p>
          <a:p xmlns:a="http://schemas.openxmlformats.org/drawingml/2006/main">
            <a:r>
              <a:t>- https://alphaprogression.com/en/subscribe</a:t>
            </a:r>
          </a:p>
          <a:p xmlns:a="http://schemas.openxmlformats.org/drawingml/2006/main">
            <a:r>
              <a:t>- https://www.jefit.com/</a:t>
            </a:r>
          </a:p>
          <a:p xmlns:a="http://schemas.openxmlformats.org/drawingml/2006/main">
            <a:r>
              <a:t>- https://help.strongapp.io/category/165-logging-a-workout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R&amp;D prioritization judgment for one personal user, not a commercial roadmap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app/StrongerApp.tsx</a:t>
            </a:r>
          </a:p>
          <a:p xmlns:a="http://schemas.openxmlformats.org/drawingml/2006/main">
            <a:r>
              <a:t>- Local: app/storage.ts</a:t>
            </a:r>
          </a:p>
          <a:p xmlns:a="http://schemas.openxmlformats.org/drawingml/2006/main">
            <a:r>
              <a:t>- https://www.hevyapp.com/features/</a:t>
            </a:r>
          </a:p>
          <a:p xmlns:a="http://schemas.openxmlformats.org/drawingml/2006/main">
            <a:r>
              <a:t>- https://www.boostcamp.app/features</a:t>
            </a:r>
          </a:p>
          <a:p xmlns:a="http://schemas.openxmlformats.org/drawingml/2006/main">
            <a:r>
              <a:t>- https://alphaprogression.com/en/subscribe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safest product changes because they are temporary or read-only until the user confirms an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screenshot: research/stronger-rd/audit/01-active-workout.png</a:t>
            </a:r>
          </a:p>
          <a:p xmlns:a="http://schemas.openxmlformats.org/drawingml/2006/main">
            <a:r>
              <a:t>- Local screenshot: research/stronger-rd/audit/04-settings-top.png</a:t>
            </a:r>
          </a:p>
          <a:p xmlns:a="http://schemas.openxmlformats.org/drawingml/2006/main">
            <a:r>
              <a:t>- Local: app/StrongerApp.tsx</a:t>
            </a:r>
          </a:p>
          <a:p xmlns:a="http://schemas.openxmlformats.org/drawingml/2006/main">
            <a:r>
              <a:t>- https://help.strongapp.io/category/165-logging-a-workout</a:t>
            </a:r>
          </a:p>
          <a:p xmlns:a="http://schemas.openxmlformats.org/drawingml/2006/main">
            <a:r>
              <a:t>- https://www.hevyapp.com/features/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recommendation is intentionally rules-based first. Autoregulation can help, but RIR estimates are imperfect and should never be treated as objective truth.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https://pubmed.ncbi.nlm.nih.gov/33776802/</a:t>
            </a:r>
          </a:p>
          <a:p xmlns:a="http://schemas.openxmlformats.org/drawingml/2006/main">
            <a:r>
              <a:t>- https://pubmed.ncbi.nlm.nih.gov/33337690/</a:t>
            </a:r>
          </a:p>
          <a:p xmlns:a="http://schemas.openxmlformats.org/drawingml/2006/main">
            <a:r>
              <a:t>- https://www.hevyapp.com/features/workout-plan-generator/</a:t>
            </a:r>
          </a:p>
          <a:p xmlns:a="http://schemas.openxmlformats.org/drawingml/2006/main">
            <a:r>
              <a:t>- https://help.fitbod.me/hc/en-us/sections/360001078993-How-Fitbod-Works</a:t>
            </a:r>
          </a:p>
          <a:p xmlns:a="http://schemas.openxmlformats.org/drawingml/2006/main">
            <a:r>
              <a:t>- https://alphaprogression.com/en/subscribe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app writes one complete StrongerData snapshot and validates an exact formatVersion. That makes migration discipline a user-facing trust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app/storage.ts</a:t>
            </a:r>
          </a:p>
          <a:p xmlns:a="http://schemas.openxmlformats.org/drawingml/2006/main">
            <a:r>
              <a:t>- Local: README.md</a:t>
            </a:r>
          </a:p>
          <a:p xmlns:a="http://schemas.openxmlformats.org/drawingml/2006/main">
            <a:r>
              <a:t>- Local screenshot: research/stronger-rd/audit/05-settings-backup.png</a:t>
            </a:r>
          </a:p>
          <a:p xmlns:a="http://schemas.openxmlformats.org/drawingml/2006/main">
            <a:r>
              <a:t>- https://help.strongapp.io/article/235-export-workout-data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package stays away from medical or injury claims. Wearable data should be contextual, not ground truth.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https://pubmed.ncbi.nlm.nih.gov/39080098/</a:t>
            </a:r>
          </a:p>
          <a:p xmlns:a="http://schemas.openxmlformats.org/drawingml/2006/main">
            <a:r>
              <a:t>- https://pubmed.ncbi.nlm.nih.gov/41843416/</a:t>
            </a:r>
          </a:p>
          <a:p xmlns:a="http://schemas.openxmlformats.org/drawingml/2006/main">
            <a:r>
              <a:t>- https://developer.apple.com/documentation/healthkit/protecting-user-privacy</a:t>
            </a:r>
          </a:p>
          <a:p xmlns:a="http://schemas.openxmlformats.org/drawingml/2006/main">
            <a:r>
              <a:t>- https://developer.mozilla.org/en-US/docs/Web/Progressive_web_apps/Guides/Offline_and_background_operation</a:t>
            </a:r>
          </a:p>
          <a:p xmlns:a="http://schemas.openxmlformats.org/drawingml/2006/main">
            <a:r>
              <a:t>- https://www.hevyapp.com/features/social-features/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folder currently has no Git history, so Wave 0 begins before any implementation. Test on copied data and a separate origin.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app/storage.ts</a:t>
            </a:r>
          </a:p>
          <a:p xmlns:a="http://schemas.openxmlformats.org/drawingml/2006/main">
            <a:r>
              <a:t>- Local: public/sw.js</a:t>
            </a:r>
          </a:p>
          <a:p xmlns:a="http://schemas.openxmlformats.org/drawingml/2006/main">
            <a:r>
              <a:t>- Local: tests/rendered-html.test.mjs</a:t>
            </a:r>
          </a:p>
          <a:p xmlns:a="http://schemas.openxmlformats.org/drawingml/2006/main">
            <a:r>
              <a:t>- Local repository inspection on 2026-08-28: no .git directory available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exact decision. The next step is a separate prototype or branch only after a recoverable source baseline exists.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Synthesis of the local product audit, competitor feature review, and sources cited throughout this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3b036701e44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a8e4ddd6584d29" /><Relationship Type="http://schemas.openxmlformats.org/officeDocument/2006/relationships/slideLayout" Target="/ppt/slideLayouts/slideLayout1.xml" Id="R7d2498647b7d4e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2498647b7d4e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41ee88adf4612" /><Relationship Type="http://schemas.openxmlformats.org/officeDocument/2006/relationships/image" Target="/ppt/media/image.jpeg" Id="Rffcd5fa3b631495f" /><Relationship Type="http://schemas.openxmlformats.org/officeDocument/2006/relationships/notesSlide" Target="/ppt/notesSlides/notesSlide1.xml" Id="Re42512a8c51f42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6a19d84764130" /><Relationship Type="http://schemas.openxmlformats.org/officeDocument/2006/relationships/notesSlide" Target="/ppt/notesSlides/notesSlide2.xml" Id="Rff02108b305940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b69d5eb8343f2" /><Relationship Type="http://schemas.openxmlformats.org/officeDocument/2006/relationships/image" Target="/ppt/media/image2.jpeg" Id="Ra3c8726da0e84f82" /><Relationship Type="http://schemas.openxmlformats.org/officeDocument/2006/relationships/image" Target="/ppt/media/image3.jpeg" Id="Rf46368e8f7544678" /><Relationship Type="http://schemas.openxmlformats.org/officeDocument/2006/relationships/notesSlide" Target="/ppt/notesSlides/notesSlide3.xml" Id="R8419359e840f40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d369506bc4564" /><Relationship Type="http://schemas.openxmlformats.org/officeDocument/2006/relationships/notesSlide" Target="/ppt/notesSlides/notesSlide4.xml" Id="R06924672f73946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c528db5bf429d" /><Relationship Type="http://schemas.openxmlformats.org/officeDocument/2006/relationships/chart" Target="/ppt/slides/charts/chart1.xml" Id="R64d0c8a7d1704cb6" /><Relationship Type="http://schemas.openxmlformats.org/officeDocument/2006/relationships/notesSlide" Target="/ppt/notesSlides/notesSlide5.xml" Id="R30e9c63d0bbb4e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964f0791d4eae" /><Relationship Type="http://schemas.openxmlformats.org/officeDocument/2006/relationships/notesSlide" Target="/ppt/notesSlides/notesSlide6.xml" Id="Rcd1974c2276049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c4e7381724abd" /><Relationship Type="http://schemas.openxmlformats.org/officeDocument/2006/relationships/notesSlide" Target="/ppt/notesSlides/notesSlide7.xml" Id="Rdead486d404343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33a74bb564cc0" /><Relationship Type="http://schemas.openxmlformats.org/officeDocument/2006/relationships/image" Target="/ppt/media/image4.jpeg" Id="R56fc09a085654d7d" /><Relationship Type="http://schemas.openxmlformats.org/officeDocument/2006/relationships/notesSlide" Target="/ppt/notesSlides/notesSlide8.xml" Id="Rf3680565d0e340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614771f26b4065" /><Relationship Type="http://schemas.openxmlformats.org/officeDocument/2006/relationships/notesSlide" Target="/ppt/notesSlides/notesSlide9.xml" Id="R96412eca80a248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e139a56a8413b" /><Relationship Type="http://schemas.openxmlformats.org/officeDocument/2006/relationships/notesSlide" Target="/ppt/notesSlides/notesSlide10.xml" Id="R4bf82f6fb58f42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15e5ac9c3437f" /><Relationship Type="http://schemas.openxmlformats.org/officeDocument/2006/relationships/notesSlide" Target="/ppt/notesSlides/notesSlide11.xml" Id="Rf9c5dd2838404f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02a7da89a4227" /><Relationship Type="http://schemas.openxmlformats.org/officeDocument/2006/relationships/notesSlide" Target="/ppt/notesSlides/notesSlide12.xml" Id="R754a617a6b5645b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Competitors with feature</c:v>
          </c:tx>
          <c:spPr>
            <a:solidFill xmlns:a="http://schemas.openxmlformats.org/drawingml/2006/main">
              <a:srgbClr val="C8EF5A"/>
            </a:solidFill>
          </c:spPr>
          <c:cat>
            <c:strLit>
              <c:ptCount val="6"/>
              <c:pt idx="0">
                <c:v>Adaptive guidance</c:v>
              </c:pt>
              <c:pt idx="1">
                <c:v>Program blocks</c:v>
              </c:pt>
              <c:pt idx="2">
                <c:v>RPE / RIR</c:v>
              </c:pt>
              <c:pt idx="3">
                <c:v>Plate math</c:v>
              </c:pt>
              <c:pt idx="4">
                <c:v>Equipment context</c:v>
              </c:pt>
              <c:pt idx="5">
                <c:v>Social discovery</c:v>
              </c:pt>
            </c:strLit>
          </c:cat>
          <c:val>
            <c:numLit>
              <c:formatCode>General</c:formatCode>
              <c:ptCount val="6"/>
              <c:pt idx="0">
                <c:v>5</c:v>
              </c:pt>
              <c:pt idx="1">
                <c:v>5</c:v>
              </c:pt>
              <c:pt idx="2">
                <c:v>4</c:v>
              </c:pt>
              <c:pt idx="3">
                <c:v>4</c:v>
              </c:pt>
              <c:pt idx="4">
                <c:v>3</c:v>
              </c:pt>
              <c:pt idx="5">
                <c:v>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A0597-AE6F-416B-9576-8FD2D4BD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R&amp;D REVIEW · 28 AUG 2026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FD5F674B-470E-43FE-94D6-5FCF5D21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Stronger R&amp;D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90CC7-FDB1-4A7D-9924-C867B999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314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314500"/>
                </a:solidFill>
                <a:latin typeface="Helvetica Neue"/>
                <a:ea typeface="Helvetica Neue"/>
                <a:cs typeface="Helvetica Neue"/>
              </a:rPr>
              <a:t>Add decision support, not complexity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C89F0-2DDA-4AA7-BB44-7BF014DF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16D04-6EB5-44B2-A647-150BEE92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5191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A non-destructive product review of the current app, six competitors, and the safest feature sequence for one personal user.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B99C7-BC12-42EE-BA78-51254155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R&amp;D only · no production source changes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23F61-97F5-4B8A-A1CD-7779CE92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1950"/>
            <a:ext cx="3467100" cy="613410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d5fa3b631495f"/>
          <a:stretch xmlns:a="http://schemas.openxmlformats.org/drawingml/2006/main"/>
        </p:blipFill>
        <p:spPr>
          <a:xfrm xmlns:a="http://schemas.openxmlformats.org/drawingml/2006/main">
            <a:off x="7545064" y="381000"/>
            <a:ext cx="2816872" cy="60960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</p:spTree>
    <p:extLst>
      <p:ext uri="{BB962C8B-B14F-4D97-AF65-F5344CB8AC3E}">
        <p14:creationId xmlns:p14="http://schemas.microsoft.com/office/powerpoint/2010/main" val="10289119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2">
            <a:extLst xmlns:a="http://schemas.openxmlformats.org/drawingml/2006/main">
              <a:ext uri="{FF2B5EF4-FFF2-40B4-BE49-F238E27FC236}">
                <a16:creationId xmlns:a16="http://schemas.microsoft.com/office/drawing/2014/main" id="{2629C69F-9E76-4FBE-A765-39863ACF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STRONGER R&amp;D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F5009E8-FA70-4498-AB23-B4F7D0B0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Protect the advantage already built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46E80305-06FA-4E16-B914-EFB6A86C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1E149-6B08-46D1-B34F-88CE98AA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Stronger is already a focused, offline-first tracker—not an empty shell.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241DB-DD94-49D5-92FA-F9B9BEFB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4B06D-BA65-458E-AA14-589E900C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Fast workout 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739F1-11F4-43D5-8144-397F2AC6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Routines, blank workouts, prior results, set completion, rest timing, and resume.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57A29-6FE3-4855-B111-EE187369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1930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09965-E5F2-415C-97D3-6D62F40E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28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Useful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B7D2C-0687-4303-8B40-54B9DC0C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8605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Search, duplicate, per-exercise trends, best weight, e1RM, and volume.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DAF11-9BD6-4E1C-85D5-A5D3B608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958C5-7DDE-4980-8077-66E70BE4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Private by 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B9D71-70DA-49E4-AA20-583453FA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IndexedDB + local fallback, offline shell, no account, ads, or server workout database.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214DEF-A1CE-4AE6-9DF8-44DA85EF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7190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235A07-03AA-4FDA-81A9-7F9945F9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814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Good mobile discipline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FDBB3F-681F-4DCC-8CD5-72D6D36D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3865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Fixed thumb navigation, safe areas, 44 px targets, dark mode, and reduced-motion support.</a:t>
            </a:r>
          </a:p>
        </p:txBody>
      </p:sp>
    </p:spTree>
    <p:extLst>
      <p:ext uri="{BB962C8B-B14F-4D97-AF65-F5344CB8AC3E}">
        <p14:creationId xmlns:p14="http://schemas.microsoft.com/office/powerpoint/2010/main" val="1805217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3">
            <a:extLst xmlns:a="http://schemas.openxmlformats.org/drawingml/2006/main">
              <a:ext uri="{FF2B5EF4-FFF2-40B4-BE49-F238E27FC236}">
                <a16:creationId xmlns:a16="http://schemas.microsoft.com/office/drawing/2014/main" id="{D30261F0-BCAF-41AD-B1A6-4EFB54C2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FLOW AUDIT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319043A-FDC8-4B07-80A2-6A57E6B6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current flow reveals two practical gaps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AFA7BB73-B209-4777-9583-405CA200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96F4D-0421-4B65-B972-5C5EF992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2400300" cy="47053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8726da0e84f82"/>
          <a:stretch xmlns:a="http://schemas.openxmlformats.org/drawingml/2006/main"/>
        </p:blipFill>
        <p:spPr>
          <a:xfrm xmlns:a="http://schemas.openxmlformats.org/drawingml/2006/main">
            <a:off x="845716" y="1390650"/>
            <a:ext cx="2156668" cy="4667250"/>
          </a:xfrm>
          <a:prstGeom xmlns:a="http://schemas.openxmlformats.org/drawingml/2006/main" prst="roundRect">
            <a:avLst>
              <a:gd name="adj" fmla="val 806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FA4DA-AA91-4ED3-9B52-412F7EC6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371600"/>
            <a:ext cx="2400300" cy="47053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368e8f7544678"/>
          <a:stretch xmlns:a="http://schemas.openxmlformats.org/drawingml/2006/main"/>
        </p:blipFill>
        <p:spPr>
          <a:xfrm xmlns:a="http://schemas.openxmlformats.org/drawingml/2006/main">
            <a:off x="3703216" y="1390650"/>
            <a:ext cx="2156668" cy="4667250"/>
          </a:xfrm>
          <a:prstGeom xmlns:a="http://schemas.openxmlformats.org/drawingml/2006/main" prst="roundRect">
            <a:avLst>
              <a:gd name="adj" fmla="val 806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3B0A3-1BD8-4255-8E44-CA82EAC5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049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14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3145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ED2F7-5EA4-4E5A-BDB1-1EA48B1D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4668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Session recovery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AED06-929B-4E35-8EB7-0278A65C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4310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A week-old active workout continues past 160 hours. The user needs a safe resume, pause, or close decision—not silent timing forever.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AC161-528E-403E-919E-1FE03575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766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30FA3E-81AA-4898-BE09-8CD7F107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623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14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3145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81AE3-3146-4C42-A032-D6470069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24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Learning 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2ADBA4-6563-4A00-9A2B-F843E8A2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00500"/>
            <a:ext cx="4095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History and Progress stay empty until a workout is finished. A weekly preview can teach the value of finishing without changing the logger.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9E48F-65FC-487E-A62C-BA7F2AF7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29250"/>
            <a:ext cx="457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EF22A1-8B54-446F-A7F7-165F77B2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60070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Both fixes can be derived from data Stronger already stores.</a:t>
            </a:r>
          </a:p>
        </p:txBody>
      </p:sp>
    </p:spTree>
    <p:extLst>
      <p:ext uri="{BB962C8B-B14F-4D97-AF65-F5344CB8AC3E}">
        <p14:creationId xmlns:p14="http://schemas.microsoft.com/office/powerpoint/2010/main" val="19603769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-4">
            <a:extLst xmlns:a="http://schemas.openxmlformats.org/drawingml/2006/main">
              <a:ext uri="{FF2B5EF4-FFF2-40B4-BE49-F238E27FC236}">
                <a16:creationId xmlns:a16="http://schemas.microsoft.com/office/drawing/2014/main" id="{FF0CD29B-E5D0-484F-9D3D-CF15B4F2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MARKET BENCHMARK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F879E5EC-E5D8-4964-A9CF-5A18CFBA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Competitors win in different ways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B37A98BD-1819-4609-9551-496F05B0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49F03-3159-4078-81E9-4636B9B7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Six products were compared on their current official feature pages.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1752600"/>
          <a:ext xmlns:a="http://schemas.openxmlformats.org/drawingml/2006/main" cx="11391900" cy="3905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28750"/>
                <a:gridCol w="2809875"/>
                <a:gridCol w="3810000"/>
                <a:gridCol w="3343275"/>
              </a:tblGrid>
              <a:tr h="457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Product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advantage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Stronger can borrow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not to copy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Strong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Fast, reliable logging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Execution quality; CSV portability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 breadth for its own sake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Hevy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Social discovery + adaptive trainer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RPE, plate math, editable suggestions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Social feed and moderation burden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Fitbod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Context-aware next workout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Equipment and limitation-aware choices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Opaque recovery percentages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Boostcamp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Multi-week program ecosystem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Blocks, alternatives, weekly review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Marketplace/network effects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Alpha Progression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Precise next-set guidance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Transparent load/rep suggestions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Advanced controls as defaults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JEFIT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Breadth across web/watch/mobile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Timed and tracked workout modes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Platform sprawl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F06D4-91B1-40AA-8675-A04933C0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The market rewards different operating models; Stronger only needs the pieces that improve a private personal workflow.</a:t>
            </a:r>
          </a:p>
        </p:txBody>
      </p:sp>
    </p:spTree>
    <p:extLst>
      <p:ext uri="{BB962C8B-B14F-4D97-AF65-F5344CB8AC3E}">
        <p14:creationId xmlns:p14="http://schemas.microsoft.com/office/powerpoint/2010/main" val="13326342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5">
            <a:extLst xmlns:a="http://schemas.openxmlformats.org/drawingml/2006/main">
              <a:ext uri="{FF2B5EF4-FFF2-40B4-BE49-F238E27FC236}">
                <a16:creationId xmlns:a16="http://schemas.microsoft.com/office/drawing/2014/main" id="{30A74429-FF7A-447B-BD24-75BDE2C4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STRATEGIC TAKEAWAY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F21CFCD-2584-4D64-AE77-134C865A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Adaptive plans are common; trust can win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877DC147-B8A3-4724-BA13-67E721E4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00050" y="1447800"/>
          <a:ext xmlns:a="http://schemas.openxmlformats.org/drawingml/2006/main" cx="6381750" cy="4438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d0c8a7d1704cb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67EC4-121D-4ADA-A1CC-E459B48E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66850"/>
            <a:ext cx="4191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3FABE-4B2E-475F-AA9B-7AAA968B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383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Table 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EFE97-3455-4188-A5A2-88A2FF35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812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Timers, templates, history, PRs, charts, and plate math no longer differentiate.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B7528-6ACC-4C52-BAB1-F7148280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33700"/>
            <a:ext cx="4191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212C6-4733-47FD-AEF8-0F6E692D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051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Crowded 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DF308-0ED5-4A93-B06B-433A7F57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480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Five of six competitors already market adaptive or recommended training.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CB6B2-DDF2-4F58-AC1A-39933D71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4191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5E432-E242-4971-BFFA-51270EFB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720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Open position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39120E-2221-46B4-94C1-F4E1B2D8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149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Explain every suggestion, require approval, work offline, and keep personal data local.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D977F-CFB4-447E-8142-59A539AB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704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Manual count from official feature pages; presence is not a quality score.</a:t>
            </a:r>
          </a:p>
        </p:txBody>
      </p:sp>
    </p:spTree>
    <p:extLst>
      <p:ext uri="{BB962C8B-B14F-4D97-AF65-F5344CB8AC3E}">
        <p14:creationId xmlns:p14="http://schemas.microsoft.com/office/powerpoint/2010/main" val="18211613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-6">
            <a:extLst xmlns:a="http://schemas.openxmlformats.org/drawingml/2006/main">
              <a:ext uri="{FF2B5EF4-FFF2-40B4-BE49-F238E27FC236}">
                <a16:creationId xmlns:a16="http://schemas.microsoft.com/office/drawing/2014/main" id="{0B541918-EC77-4120-8E81-9D83EB4A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PRIORITY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37426B06-6886-4D35-9329-05D22BA8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Start with features that help every workout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DFD83F10-B3D9-4855-8784-1A2D37D0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00050" y="1314450"/>
          <a:ext xmlns:a="http://schemas.openxmlformats.org/drawingml/2006/main" cx="11391900" cy="4552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5810250"/>
                <a:gridCol w="1666875"/>
                <a:gridCol w="1438275"/>
              </a:tblGrid>
              <a:tr h="457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Why it helps you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Risk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Wave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Session rescue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Resolve stale workouts without losing logged sets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EF7D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Weekly review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Turns goal + 4-day target into a useful training loop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Low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EF7D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Plate calculator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Removes arithmetic and phone switching in the gym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EF7D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Backup hardening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Protects the only irreplaceable asset: workout history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Medium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RPE / RIR + set types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Adds context to performance without changing the plan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Low–med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Next-set suggestion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Makes progressive overload actionable and explainable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Medium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Equipment substitutions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Keeps a workout usable across different gyms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Medium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Blocks + deload planner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Adds long-range structure for advanced use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Higher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22D53-C432-40D6-90AD-9D3BA3F2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Ranking lens: frequency of use, fit with existing data, reversibility, privacy, and PWA feasibility.</a:t>
            </a:r>
          </a:p>
        </p:txBody>
      </p:sp>
    </p:spTree>
    <p:extLst>
      <p:ext uri="{BB962C8B-B14F-4D97-AF65-F5344CB8AC3E}">
        <p14:creationId xmlns:p14="http://schemas.microsoft.com/office/powerpoint/2010/main" val="9035051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7">
            <a:extLst xmlns:a="http://schemas.openxmlformats.org/drawingml/2006/main">
              <a:ext uri="{FF2B5EF4-FFF2-40B4-BE49-F238E27FC236}">
                <a16:creationId xmlns:a16="http://schemas.microsoft.com/office/drawing/2014/main" id="{2214E538-B534-4845-A370-4788B99E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WAVE 1 · LOW RISK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078A7414-50D7-45C3-9264-42CFE0D8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 daily friction first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63E960D9-F5EE-4CFE-8EAF-48837FC6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75CDF-160D-424F-8277-D6E08E1A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54098-8C48-4A00-B872-C75F5D3A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14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145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B1406-3577-420E-A6D0-805B6AE8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E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7A76A-BA49-497B-B2C2-F24B087B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Session rescue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4F6690-D8F7-4801-A0F7-62F00384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3238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When a workout is older than a chosen threshold, offer Resume, Pause timer, or Close safely. Never discard automatically.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A5D8C-B0F7-4A26-8121-2BF6DA83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431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14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145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1FEC9-2E89-49B9-8257-6B3D9815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00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A68A7-3425-4582-BEE9-8D30FB7D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147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Weekly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80654-CDF2-4FF9-A635-2DCF59EE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57625"/>
            <a:ext cx="3238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Show sessions completed vs target, recent PRs, and the next planned routine. Use the goal and weekly-days settings already stored.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2D0B03-C9C8-41ED-BCB2-AA10A691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14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145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D09DE-9D27-41F7-A5D4-90E378BA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00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4FFBE-1A65-4D65-B4D9-A72AE287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147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Plate calculator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F7ACB-D29A-4804-AEB7-23E1E467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57625"/>
            <a:ext cx="3238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Enter target load, bar weight, and available plates. Keep it a temporary tool; it must not rewrite the set until accepted.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E7AD9A-7F0E-4E32-872E-A9D2E712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9659BF-3352-413C-B759-9DA7E6F3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00725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Why first: all three are local, reversible, and useful without changing workout history.</a:t>
            </a:r>
          </a:p>
        </p:txBody>
      </p:sp>
    </p:spTree>
    <p:extLst>
      <p:ext uri="{BB962C8B-B14F-4D97-AF65-F5344CB8AC3E}">
        <p14:creationId xmlns:p14="http://schemas.microsoft.com/office/powerpoint/2010/main" val="15455375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8">
            <a:extLst xmlns:a="http://schemas.openxmlformats.org/drawingml/2006/main">
              <a:ext uri="{FF2B5EF4-FFF2-40B4-BE49-F238E27FC236}">
                <a16:creationId xmlns:a16="http://schemas.microsoft.com/office/drawing/2014/main" id="{F6B4AFDF-F64C-4C1D-ACEC-0678EE05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WAVE 2 · USER-APPROVED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050F24EE-3D8B-4123-9D18-1874BA1E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Guidance should not take control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F462EAFA-385A-4901-AC2B-A8CAD232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5F184-F951-4611-A4C1-262D0276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571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A suggestion should explain itself, stay editable, and leave the current routine untouched until accepted.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01A25-60EA-485D-95DC-AD41C4D2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71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E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4A192-65FB-4266-A62B-8180F029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5A35C-D299-47EB-8E28-8B917C3E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483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Optional RPE / RIR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0254C-6143-4C83-BE1B-57B5F35C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4838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Off by default. Add working-set context and explain the scale inline; treat it as subjective input.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491E7-4D81-460C-824E-F591DC5D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71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E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54C3C-5CD6-4176-BDB6-8F9F3661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E110C-B10E-4238-A681-6346DC1C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483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Deterministic next 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1FF51-CDBE-4481-B1A6-D5AC9E34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4838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Example: “You reached the top of the rep range twice; consider +2.5 kg.” Show the evidence and require acceptance.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83B47-677C-40CD-B9B9-77658A6F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81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E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7D0E91-2C7F-4F24-B42B-712CC78D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BEED67-16FB-4E51-8798-1193ABE1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483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Equipment substitutions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0FA6F8-5AE7-468B-82C3-3F92791F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4838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Save simple gym profiles and swap to an equivalent movement without changing exercise history keys.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C0A390-A561-48A7-9E48-EA39E803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257300"/>
            <a:ext cx="3028950" cy="5067300"/>
          </a:xfrm>
          <a:prstGeom xmlns:a="http://schemas.openxmlformats.org/drawingml/2006/main" prst="roundRect">
            <a:avLst>
              <a:gd name="adj" fmla="val 6918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c09a085654d7d"/>
          <a:stretch xmlns:a="http://schemas.openxmlformats.org/drawingml/2006/main"/>
        </p:blipFill>
        <p:spPr>
          <a:xfrm xmlns:a="http://schemas.openxmlformats.org/drawingml/2006/main">
            <a:off x="7762965" y="1276350"/>
            <a:ext cx="2323919" cy="5029200"/>
          </a:xfrm>
          <a:prstGeom xmlns:a="http://schemas.openxmlformats.org/drawingml/2006/main" prst="roundRect">
            <a:avLst>
              <a:gd name="adj" fmla="val 7006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CDD2AE-D6C8-4415-A42B-1C0535B2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1143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F5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783828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9">
            <a:extLst xmlns:a="http://schemas.openxmlformats.org/drawingml/2006/main">
              <a:ext uri="{FF2B5EF4-FFF2-40B4-BE49-F238E27FC236}">
                <a16:creationId xmlns:a16="http://schemas.microsoft.com/office/drawing/2014/main" id="{F5313938-C2D4-4AD7-86F1-9C4E50F2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FOUNDATION · PROTECT FIRST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58CEA63E-1885-4B56-9594-7AEB1038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 safety is part of the product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147B08A8-9C0E-4D6C-8AD7-9394673A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E6F82-8B7A-433A-9C14-ACD37DAD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282EE-7FB4-4BA1-8C78-3AAAED5C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14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14500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4EE95-856A-42E9-806E-39FC484D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E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C4BAB-74E0-44C2-AAFC-3CAD3C7A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Versioned backup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A9142-05C3-4B69-A9BA-77AB0B75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Keep full JSON backup, add human-readable CSV, and label schema version explicitly.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69015-0E15-4DBB-9415-177EE4BF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431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14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14500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0E0D0-1209-49D0-8429-0051473B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00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6C1D8-5098-48DE-A843-C4377158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337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Transactional restore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ACD53-B6D9-4F93-85F1-4AA33129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Validate and preview changes before replacement; failed imports must leave current data untouched.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07E10-BEA8-4987-93DA-F5712E9F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14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14500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1A75A-8364-4BBA-882C-95319EFF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00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F5FF8-F087-47AD-9C84-FEFC66E6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337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Migration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7277C-109B-46FC-927B-D986468B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8620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Freeze legacy fixtures, preserve exercise keys and kg values, and restore a pre-migration snapshot on failure.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42CDB6-B149-4EE1-9348-9588EFB5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80B476-C23F-4F02-8510-C5CD6E12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626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Boundary: keep photos, wearable streams, and analytics caches out of the whole-dataset snapshot.</a:t>
            </a:r>
          </a:p>
        </p:txBody>
      </p:sp>
    </p:spTree>
    <p:extLst>
      <p:ext uri="{BB962C8B-B14F-4D97-AF65-F5344CB8AC3E}">
        <p14:creationId xmlns:p14="http://schemas.microsoft.com/office/powerpoint/2010/main" val="19216191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-10">
            <a:extLst xmlns:a="http://schemas.openxmlformats.org/drawingml/2006/main">
              <a:ext uri="{FF2B5EF4-FFF2-40B4-BE49-F238E27FC236}">
                <a16:creationId xmlns:a16="http://schemas.microsoft.com/office/drawing/2014/main" id="{E4C29759-3051-42DD-8495-69658748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NOT IN THE FIRST R&amp;D PACKAGE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A550C3F5-E456-4133-B873-C2760E0C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Defer product-changing features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235CDF66-ABDA-4EA7-A266-575B4EC1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00050" y="1447800"/>
          <a:ext xmlns:a="http://schemas.openxmlformats.org/drawingml/2006/main" cx="11391900" cy="4171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4857750"/>
                <a:gridCol w="4057650"/>
              </a:tblGrid>
              <a:tr h="457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Defer</a:t>
                      </a:r>
                    </a:p>
                  </a:txBody>
                  <a:tcPr marL="91440" marR="91440" marT="45720" marB="45720">
                    <a:solidFill>
                      <a:srgbClr val="A33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Why now is wrong</a:t>
                      </a:r>
                    </a:p>
                  </a:txBody>
                  <a:tcPr marL="91440" marR="91440" marT="45720" marB="45720">
                    <a:solidFill>
                      <a:srgbClr val="A33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Revisit only when</a:t>
                      </a:r>
                    </a:p>
                  </a:txBody>
                  <a:tcPr marL="91440" marR="91440" marT="45720" marB="45720">
                    <a:solidFill>
                      <a:srgbClr val="A33B3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Social feed / leaderboards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Moderation, privacy, content rights, and network effects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product is intentionally multi-user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Opaque recovery score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Wearable inputs are noisy; a precise percentage implies false certainty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Evidence, permissions, and wording are validated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Silent AI program changes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Hard to explain, hard to undo, and risky during active training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Every change is constrained, previewed, and accepted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Cloud sync / accounts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Changes the threat model and the privacy promise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Cross-device need clearly outweighs local simplicity</a:t>
                      </a:r>
                    </a:p>
                  </a:txBody>
                  <a:tcPr marL="91440" marR="91440" marT="45720" marB="45720">
                    <a:solidFill>
                      <a:srgbClr val="F6F6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Native watch / HealthKit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current PWA cannot guarantee native background behavior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separate native architecture is funded and scoped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30D0A-5E2F-48C3-9E12-A82EACEE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A33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A33B35"/>
                </a:solidFill>
                <a:latin typeface="Helvetica Neue"/>
                <a:ea typeface="Helvetica Neue"/>
                <a:cs typeface="Helvetica Neue"/>
              </a:rPr>
              <a:t>Delaying these is a product choice, not a lack of ambition.</a:t>
            </a:r>
          </a:p>
        </p:txBody>
      </p:sp>
    </p:spTree>
    <p:extLst>
      <p:ext uri="{BB962C8B-B14F-4D97-AF65-F5344CB8AC3E}">
        <p14:creationId xmlns:p14="http://schemas.microsoft.com/office/powerpoint/2010/main" val="15023161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11">
            <a:extLst xmlns:a="http://schemas.openxmlformats.org/drawingml/2006/main">
              <a:ext uri="{FF2B5EF4-FFF2-40B4-BE49-F238E27FC236}">
                <a16:creationId xmlns:a16="http://schemas.microsoft.com/office/drawing/2014/main" id="{432261ED-40EF-4D08-98FE-BE36210D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RESPONSIBLE DELIVERY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F2C711A2-7C67-4159-A66A-0CF0D718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 out in four guarded waves</a:t>
            </a:r>
          </a:p>
        </p:txBody>
      </p: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92825722-0DFC-43D9-B17B-EBFB2123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F8540-5CE5-46C7-8FAF-F2F384D6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8798C-C8E7-41D0-899C-C4D11DCA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52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E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59CFD-65C1-4034-A556-5930DDD6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14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14500"/>
                </a:solidFill>
                <a:latin typeface="Helvetica Neue"/>
                <a:ea typeface="Helvetica Neue"/>
                <a:cs typeface="Helvetica Neue"/>
              </a:rPr>
              <a:t>WAVE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BB5B4-9529-4E54-80CE-ECB7AFCA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Protect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AD4F9-A000-4192-9169-655905FB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2333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Source snapshot, real backup, schema fixtures, migration and lifecycle tests.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34BCE-6C93-4D84-962F-C99A3FE7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52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E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529BC-B782-4A18-891E-60B11AFD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09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14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14500"/>
                </a:solidFill>
                <a:latin typeface="Helvetica Neue"/>
                <a:ea typeface="Helvetica Neue"/>
                <a:cs typeface="Helvetica Neue"/>
              </a:rPr>
              <a:t>WAVE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8F002-1A4C-45F4-B5A6-6954B14B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3375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Derive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FC823-99A0-443F-8D35-BB229097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05250"/>
            <a:ext cx="2333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Session rescue, weekly review, plate math. Read-only or temporary first.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96E7C2-A23D-4EF5-863A-10582D42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52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E6DCDF-9C1A-40C9-857A-F07B0632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09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14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14500"/>
                </a:solidFill>
                <a:latin typeface="Helvetica Neue"/>
                <a:ea typeface="Helvetica Neue"/>
                <a:cs typeface="Helvetica Neue"/>
              </a:rPr>
              <a:t>WAVE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0AC7A-75D9-447C-83B2-923316BE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3375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Guide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EF4AC0-9F98-4B74-821A-B36B6E93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05250"/>
            <a:ext cx="2333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Optional RPE/RIR, explainable next-set prompts, substitutions.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FDDCE-EFAA-461B-AC71-CC6F6348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52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C1660F-5EE4-4771-B2F8-3C9A166F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09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14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14500"/>
                </a:solidFill>
                <a:latin typeface="Helvetica Neue"/>
                <a:ea typeface="Helvetica Neue"/>
                <a:cs typeface="Helvetica Neue"/>
              </a:rPr>
              <a:t>WAVE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F9049B-AD71-47F3-82CF-5C2FC867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3375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Experiment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435B6C-B42E-42B6-9EEC-77C45DC7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05250"/>
            <a:ext cx="2333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Program blocks and dismissible deload planning on copied data.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F5952E-5095-4CE9-9270-0FF09859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B63373-4FE5-4AAA-A154-694CDDD2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24525"/>
            <a:ext cx="982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wave earns the next: old backups import, active workouts survive, and suggestions stay optional.</a:t>
            </a:r>
          </a:p>
        </p:txBody>
      </p:sp>
    </p:spTree>
    <p:extLst>
      <p:ext uri="{BB962C8B-B14F-4D97-AF65-F5344CB8AC3E}">
        <p14:creationId xmlns:p14="http://schemas.microsoft.com/office/powerpoint/2010/main" val="19983507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B4D72-3C6F-4635-8F4F-4014D396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EBF50-C9AE-43D4-B204-CD346F8B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619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Prototype four things</a:t>
            </a:r>
          </a:p>
          <a:p xmlns:a="http://schemas.openxmlformats.org/drawingml/2006/main">
            <a:pPr algn="l">
              <a:defRPr sz="345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 copied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4E64E-B7EB-4748-87BE-109B6507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B7DD8-4198-404B-83E6-62BD775C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384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Session rescue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F623E-4971-4D04-B944-EFBAF717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Weekly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45767-0B4B-4708-80DE-E18A33C1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Plate calculator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35091-15B2-4B54-9E9A-00CEFA85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4. Versioned backup + safe restore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B79B4-0149-47DB-ADC7-C38DF537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4476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688F2-7EB5-421C-A934-AC4D2850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097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Success means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96B4D-1016-4837-B454-81837B8C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38350"/>
            <a:ext cx="36385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• Faster decisions during a workout</a:t>
            </a:r>
          </a:p>
          <a:p xmlns:a="http://schemas.openxmlformats.org/drawingml/2006/main">
            <a:pPr algn="l">
              <a:defRPr sz="157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• No silent routine or history changes</a:t>
            </a:r>
          </a:p>
          <a:p xmlns:a="http://schemas.openxmlformats.org/drawingml/2006/main">
            <a:pPr algn="l">
              <a:defRPr sz="157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• Old backups still work</a:t>
            </a:r>
          </a:p>
          <a:p xmlns:a="http://schemas.openxmlformats.org/drawingml/2006/main">
            <a:pPr algn="l">
              <a:defRPr sz="157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• Active workouts survive reloads and updates</a:t>
            </a:r>
          </a:p>
          <a:p xmlns:a="http://schemas.openxmlformats.org/drawingml/2006/main">
            <a:pPr algn="l">
              <a:defRPr sz="157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• Every recommendation is explainable and dismissible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DB028-DE02-48E8-9821-80C27E45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19700"/>
            <a:ext cx="4476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B0502-A9D0-4070-A593-6443A145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410200"/>
            <a:ext cx="398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 not touch production until the copied-data prototype passes the gates.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A0DAB-9272-44DC-BE33-8E3C5904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2575E"/>
                </a:solidFill>
                <a:latin typeface="Helvetica Neue"/>
                <a:ea typeface="Helvetica Neue"/>
                <a:cs typeface="Helvetica Neue"/>
              </a:rPr>
              <a:t>Stronger R&amp;D · 28 Aug 2026</a:t>
            </a:r>
          </a:p>
        </p:txBody>
      </p:sp>
    </p:spTree>
    <p:extLst>
      <p:ext uri="{BB962C8B-B14F-4D97-AF65-F5344CB8AC3E}">
        <p14:creationId xmlns:p14="http://schemas.microsoft.com/office/powerpoint/2010/main" val="9931830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2026-08-28T10:47:01.3530000Z</dcterms:created>
  <dcterms:modified xsi:type="dcterms:W3CDTF">2026-08-28T10:47:01.3530000Z</dcterms:modified>
</coreProperties>
</file>